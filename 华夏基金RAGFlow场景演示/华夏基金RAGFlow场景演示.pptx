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9" Type="http://schemas.openxmlformats.org/officeDocument/2006/relationships/slide" Target="slides/slide9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3" Type="http://schemas.openxmlformats.org/officeDocument/2006/relationships/image" Target="media/image7.svg" /><Relationship Id="rId2" Type="http://schemas.openxmlformats.org/officeDocument/2006/relationships/image" Target="media/image6.svg" /><Relationship Id="rId4" Type="http://schemas.openxmlformats.org/officeDocument/2006/relationships/image" Target="media/image8.svg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1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2" Type="http://schemas.openxmlformats.org/officeDocument/2006/relationships/image" Target="media/image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3" Type="http://schemas.openxmlformats.org/officeDocument/2006/relationships/image" Target="media/image4.svg" /><Relationship Id="rId2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.svg" /><Relationship Id="rId1" Type="http://schemas.openxmlformats.org/officeDocument/2006/relationships/image" Target="media/image2.svg" /><Relationship Id="rId2" Type="http://schemas.openxmlformats.org/officeDocument/2006/relationships/image" Target="media/image3.svg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0} style={{ fontFamily: 'Microsoft YaHei' }}&gt;&#10;  &lt;Box style={{ width: '100%', height: '100%', background: '#1E3A5F', flexDirection: 'column', justifyContent: 'center', padding: 72 }}&gt;&#10;    &lt;Text style={{ fontSize: 14, color: '#B08D57', fontWeight: 'bold', letterSpacing: 3 }}&gt;RAGFLOW · 基金行业知识大模型&lt;/Text&gt;&#10;    &lt;Text style={{ fontSize: 62, fontWeight: 'bold', color: '#FFFFFF', marginTop: 18, lineHeight: 1.15 }}&gt;让基金知识，触手可及&lt;/Text&gt;&#10;    &lt;Box style={{ height: 3, width: 120, background: '#B08D57', marginVertical: 26, borderRadius: 2 }} /&gt;&#10;    &lt;Text style={{ fontSize: 24, color: '#D7E0EC', lineHeight: 1.5 }}&gt;基于RAGFlow的基金行业知识大模型落地场景演示&lt;/Text&gt;&#10;    &lt;Box style={{ marginTop: 'auto', flexDirection: 'row', justifyContent: 'space-between' }}&gt;&#10;      &lt;Text style={{ fontSize: 15, color: '#9FB2C8' }}&gt;汇报人：______　|　日期：______&lt;/Text&gt;&#10;      &lt;Text style={{ fontSize: 15, color: '#9FB2C8' }}&gt;面向：华夏基金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85800" y="685800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>基金行业知识大模型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1019175"/>
            <a:ext cx="108204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让基金知识，触手可及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85800" y="1838325"/>
            <a:ext cx="1143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186690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D7E0EC"/>
                </a:solidFill>
                <a:latin typeface="Microsoft YaHei"/>
                <a:ea typeface="Microsoft YaHei"/>
              </a:rPr>
              <a:t>基于</a:t>
            </a:r>
            <a:r>
              <a:rPr lang="en-US" sz="1800">
                <a:solidFill>
                  <a:srgbClr val="D7E0EC"/>
                </a:solidFill>
                <a:latin typeface="Microsoft YaHei"/>
                <a:ea typeface="Microsoft YaHei"/>
              </a:rPr>
              <a:t>RAGFlow</a:t>
            </a:r>
            <a:r>
              <a:rPr lang="zh-CN" sz="1800">
                <a:solidFill>
                  <a:srgbClr val="D7E0EC"/>
                </a:solidFill>
                <a:latin typeface="Microsoft YaHei"/>
                <a:ea typeface="Microsoft YaHei"/>
              </a:rPr>
              <a:t>的基金行业知识大模型落地场景演示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600075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汇报人：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　日期：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506075" y="60007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面向：华夏基金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价值逻辑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/ WHY RAGFLOW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5F"/>
                </a:solidFill>
                <a:latin typeface="Microsoft YaHei"/>
                <a:ea typeface="Microsoft YaHei"/>
              </a:rPr>
              <a:t>RAGFlow</a:t>
            </a: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，天生适配金融知识场景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" y="127635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71500" y="1476375"/>
            <a:ext cx="11049000" cy="895350"/>
          </a:xfrm>
          <a:prstGeom prst="roundRect">
            <a:avLst>
              <a:gd name="adj" fmla="val 12766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42950" y="16573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0F7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790700"/>
            <a:ext cx="266700" cy="26670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466850" y="1647825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私有化部署，数据不出域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466850" y="1943100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满足金融行业合规与数据安全要求，知识资产留在内网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71500" y="2628900"/>
            <a:ext cx="11049000" cy="895350"/>
          </a:xfrm>
          <a:prstGeom prst="roundRect">
            <a:avLst>
              <a:gd name="adj" fmla="val 12766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42950" y="28098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0F7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" y="2943225"/>
            <a:ext cx="266700" cy="2667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66850" y="2800350"/>
            <a:ext cx="3457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深度文档解析，长合同</a:t>
            </a:r>
            <a:r>
              <a:rPr lang="en-US" sz="1650" b="1">
                <a:solidFill>
                  <a:srgbClr val="1E3A5F"/>
                </a:solidFill>
                <a:latin typeface="Microsoft YaHei"/>
                <a:ea typeface="Microsoft YaHei"/>
              </a:rPr>
              <a:t>/</a:t>
            </a: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公告精准读懂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466850" y="3095625"/>
            <a:ext cx="34575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复杂版式、表格、多栏文档均可结构化抽取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71500" y="3771900"/>
            <a:ext cx="11049000" cy="895350"/>
          </a:xfrm>
          <a:prstGeom prst="roundRect">
            <a:avLst>
              <a:gd name="adj" fmla="val 12766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42950" y="39528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0F7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6300" y="4086225"/>
            <a:ext cx="266700" cy="266700"/>
          </a:xfrm>
          <a:prstGeom prst="rect">
            <a:avLst/>
          </a:prstGeom>
          <a:ln/>
        </p:spPr>
      </p:pic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466850" y="39433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回答可溯源，关键结论标注原文出处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466850" y="4238625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每一条答案都能回溯到原始材料，可审计可核查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571500" y="4924425"/>
            <a:ext cx="11049000" cy="895350"/>
          </a:xfrm>
          <a:prstGeom prst="roundRect">
            <a:avLst>
              <a:gd name="adj" fmla="val 12766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42950" y="51054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0F7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76300" y="5238750"/>
            <a:ext cx="266700" cy="26670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466850" y="5095875"/>
            <a:ext cx="3343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多格式接入，表格</a:t>
            </a:r>
            <a:r>
              <a:rPr lang="en-US" sz="1650" b="1">
                <a:solidFill>
                  <a:srgbClr val="1E3A5F"/>
                </a:solidFill>
                <a:latin typeface="Microsoft YaHei"/>
                <a:ea typeface="Microsoft YaHei"/>
              </a:rPr>
              <a:t>/</a:t>
            </a: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文档</a:t>
            </a:r>
            <a:r>
              <a:rPr lang="en-US" sz="1650" b="1">
                <a:solidFill>
                  <a:srgbClr val="1E3A5F"/>
                </a:solidFill>
                <a:latin typeface="Microsoft YaHei"/>
                <a:ea typeface="Microsoft YaHei"/>
              </a:rPr>
              <a:t>/</a:t>
            </a: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录音统一管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466850" y="5391150"/>
            <a:ext cx="33432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一套知识底座，承载基金业务的多类知识资产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01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重点主推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智能对练：</a:t>
            </a:r>
            <a:r>
              <a:rPr lang="en-US" sz="2550" b="1">
                <a:solidFill>
                  <a:srgbClr val="1E3A5F"/>
                </a:solidFill>
                <a:latin typeface="Microsoft YaHei"/>
                <a:ea typeface="Microsoft YaHei"/>
              </a:rPr>
              <a:t xml:space="preserve">7×24 </a:t>
            </a: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小时</a:t>
            </a:r>
            <a:r>
              <a:rPr lang="en-US" sz="2550" b="1">
                <a:solidFill>
                  <a:srgbClr val="1E3A5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考官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71500" y="1476375"/>
            <a:ext cx="3238500" cy="434340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38200" y="2857500"/>
            <a:ext cx="27051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38200" y="38481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智能对练系统</a:t>
            </a:r>
            <a:endParaRPr/>
          </a:p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4229100"/>
            <a:ext cx="209550" cy="2095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23950" y="42386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08D57"/>
                </a:solidFill>
                <a:latin typeface="Microsoft YaHei"/>
                <a:ea typeface="Microsoft YaHei"/>
              </a:rPr>
              <a:t>重点主推场景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124325" y="1476375"/>
            <a:ext cx="75438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124325" y="1476375"/>
            <a:ext cx="7543800" cy="533400"/>
          </a:xfrm>
          <a:custGeom>
            <a:pathLst>
              <a:path w="792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276725" y="1628775"/>
            <a:ext cx="719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替代人工考官，培训人力成本直降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076700" y="2676525"/>
            <a:ext cx="754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76700" y="3057525"/>
            <a:ext cx="209550" cy="20955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400550" y="304800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机器扮演投资者主动发问</a:t>
            </a:r>
            <a:endParaRPr/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76700" y="3390900"/>
            <a:ext cx="209550" cy="20955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400550" y="33813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实时对照话术库自动批改</a:t>
            </a:r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76700" y="3724275"/>
            <a:ext cx="209550" cy="20955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400550" y="37147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识别漏讲风险提示与错答</a:t>
            </a:r>
            <a:endParaRPr/>
          </a:p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76700" y="4057650"/>
            <a:ext cx="209550" cy="20955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00550" y="404812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错题自动归集并定向出题</a:t>
            </a:r>
            <a:endParaRPr/>
          </a:p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76700" y="4391025"/>
            <a:ext cx="209550" cy="20955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00550" y="43815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输出对练报告与薄弱点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076700" y="5257800"/>
            <a:ext cx="7543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210050" y="5391150"/>
            <a:ext cx="727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一句话总结：把合规培训从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人工一对一带教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变成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 7×24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可随时练习的智能考官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02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风控合规最关心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智能质检：</a:t>
            </a:r>
            <a:r>
              <a:rPr lang="en-US" sz="2550" b="1">
                <a:solidFill>
                  <a:srgbClr val="1E3A5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守住合规底线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19125" y="1476375"/>
            <a:ext cx="110490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19125" y="1476375"/>
            <a:ext cx="11049000" cy="533400"/>
          </a:xfrm>
          <a:custGeom>
            <a:pathLst>
              <a:path w="1160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71525" y="1628775"/>
            <a:ext cx="1069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自动巡检销售话术，拦截监管风险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71500" y="2200275"/>
            <a:ext cx="2857500" cy="36195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32670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" y="41719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通话</a:t>
            </a:r>
            <a:r>
              <a:rPr lang="en-US" sz="1350" spc="150">
                <a:solidFill>
                  <a:srgbClr val="9FB2C8"/>
                </a:solidFill>
                <a:latin typeface="Microsoft YaHei"/>
                <a:ea typeface="Microsoft YaHei"/>
              </a:rPr>
              <a:t>/</a:t>
            </a: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会话智能质检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4552950"/>
            <a:ext cx="209550" cy="20955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85850" y="45624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08D57"/>
                </a:solidFill>
                <a:latin typeface="Microsoft YaHei"/>
                <a:ea typeface="Microsoft YaHei"/>
              </a:rPr>
              <a:t>风控最关心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695700" y="220027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2581275"/>
            <a:ext cx="209550" cy="20955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019550" y="25717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录音自动转写并实时分析</a:t>
            </a:r>
            <a:endParaRPr/>
          </a:p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2914650"/>
            <a:ext cx="209550" cy="20955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019550" y="29051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识别违规与误导性红线话术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3248025"/>
            <a:ext cx="209550" cy="20955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019550" y="323850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正向核查风险揭示完整性</a:t>
            </a:r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3581400"/>
            <a:ext cx="209550" cy="20955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019550" y="35718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输出质检工单与风险等级</a:t>
            </a:r>
            <a:endParaRPr/>
          </a:p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95700" y="3914775"/>
            <a:ext cx="209550" cy="20955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019550" y="39052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精准定位违规原文片段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695700" y="5257800"/>
            <a:ext cx="7924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829050" y="5391150"/>
            <a:ext cx="7658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自动巡检销售话术，守住基金业务合规底线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03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全员赋能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表格问答：人话查费率要素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71500" y="1476375"/>
            <a:ext cx="3238500" cy="434340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8200" y="3048000"/>
            <a:ext cx="27051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4038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表格自然语言问答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124325" y="1476375"/>
            <a:ext cx="75438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124325" y="1476375"/>
            <a:ext cx="7543800" cy="533400"/>
          </a:xfrm>
          <a:custGeom>
            <a:pathLst>
              <a:path w="792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276725" y="1628775"/>
            <a:ext cx="719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员工免翻</a:t>
            </a:r>
            <a:r>
              <a:rPr lang="en-US" sz="1500" b="1">
                <a:solidFill>
                  <a:srgbClr val="1E3A5F"/>
                </a:solidFill>
                <a:latin typeface="Microsoft YaHei"/>
                <a:ea typeface="Microsoft YaHei"/>
              </a:rPr>
              <a:t xml:space="preserve"> Excel</a:t>
            </a: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，自然语言查产品要素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076700" y="2838450"/>
            <a:ext cx="754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219450"/>
            <a:ext cx="209550" cy="20955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400550" y="320992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上传费率表与产品要素表</a:t>
            </a:r>
            <a:endParaRPr/>
          </a:p>
        </p:txBody>
      </p:sp>
      <p:pic>
        <p:nvPicPr>
          <p:cNvPr id="1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552825"/>
            <a:ext cx="209550" cy="20955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400550" y="35433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自然语言提问即查即答</a:t>
            </a:r>
            <a:endParaRPr/>
          </a:p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886200"/>
            <a:ext cx="209550" cy="20955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400550" y="38766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精准定位表格行列数据</a:t>
            </a:r>
            <a:endParaRPr/>
          </a:p>
        </p:txBody>
      </p:sp>
      <p:pic>
        <p:nvPicPr>
          <p:cNvPr id="1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4219575"/>
            <a:ext cx="209550" cy="209550"/>
          </a:xfrm>
          <a:prstGeom prst="rect">
            <a:avLst/>
          </a:prstGeom>
          <a:ln/>
        </p:spPr>
      </p:pic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400550" y="42100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支持多表联动对比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076700" y="5257800"/>
            <a:ext cx="7543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210050" y="5391150"/>
            <a:ext cx="727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一句话总结：让复杂产品要素表、费率表支持人话查询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04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投研提效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合同解读：长文档秒级精读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19125" y="1476375"/>
            <a:ext cx="110490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19125" y="1476375"/>
            <a:ext cx="11049000" cy="533400"/>
          </a:xfrm>
          <a:custGeom>
            <a:pathLst>
              <a:path w="1160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71525" y="1628775"/>
            <a:ext cx="1069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长合同海量公告快速精读，解放投研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71500" y="2200275"/>
            <a:ext cx="2857500" cy="36195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投研</a:t>
            </a:r>
            <a:r>
              <a:rPr lang="en-US" sz="1350" spc="150">
                <a:solidFill>
                  <a:srgbClr val="9FB2C8"/>
                </a:solidFill>
                <a:latin typeface="Microsoft YaHei"/>
                <a:ea typeface="Microsoft YaHei"/>
              </a:rPr>
              <a:t>&amp;</a:t>
            </a: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合同解读助手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695700" y="220027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2581275"/>
            <a:ext cx="209550" cy="20955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019550" y="257175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长文档条款秒级定位</a:t>
            </a:r>
            <a:endParaRPr/>
          </a:p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2914650"/>
            <a:ext cx="209550" cy="20955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019550" y="2905125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多文档并排对比差异</a:t>
            </a:r>
            <a:endParaRPr/>
          </a:p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3248025"/>
            <a:ext cx="209550" cy="20955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019550" y="3238500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抽取费率封闭期等关键要素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3581400"/>
            <a:ext cx="209550" cy="20955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019550" y="35718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自动标注原文出处可溯源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695700" y="5257800"/>
            <a:ext cx="7924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829050" y="5391150"/>
            <a:ext cx="7658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一句话总结：长合同、海量公告快速精读，解放投研文档查找时间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05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对外投教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投教助手：条款科普不荐股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1476375"/>
            <a:ext cx="3238500" cy="434340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38200" y="3048000"/>
            <a:ext cx="27051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4038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投资者投教助手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124325" y="1476375"/>
            <a:ext cx="75438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124325" y="1476375"/>
            <a:ext cx="7543800" cy="533400"/>
          </a:xfrm>
          <a:custGeom>
            <a:pathLst>
              <a:path w="792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276725" y="1628775"/>
            <a:ext cx="719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标准化合规投教，落实监管科普要求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076700" y="2838450"/>
            <a:ext cx="754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219450"/>
            <a:ext cx="209550" cy="20955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400550" y="320992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晦涩条款翻译成大白话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552825"/>
            <a:ext cx="209550" cy="20955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400550" y="3543300"/>
            <a:ext cx="2066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讲清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A/C 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份额与申赎规则</a:t>
            </a:r>
            <a:endParaRPr/>
          </a:p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886200"/>
            <a:ext cx="209550" cy="20955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400550" y="38766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区分冷静期等关键概念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4219575"/>
            <a:ext cx="209550" cy="20955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00550" y="42100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只科普不荐股严守合规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076700" y="5257800"/>
            <a:ext cx="7543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210050" y="5391150"/>
            <a:ext cx="727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一句话总结：标准化、合规的投资者教育问答工具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06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对内赋能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内部知识库：统一查询入口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19125" y="1476375"/>
            <a:ext cx="110490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19125" y="1476375"/>
            <a:ext cx="11049000" cy="533400"/>
          </a:xfrm>
          <a:custGeom>
            <a:pathLst>
              <a:path w="1160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71525" y="1628775"/>
            <a:ext cx="1069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企业内部统一知识入口，减跨部门咨询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71500" y="2200275"/>
            <a:ext cx="2857500" cy="36195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内部员工知识库助手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695700" y="220027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2581275"/>
            <a:ext cx="209550" cy="20955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019550" y="25717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权限隔离仅开放内部资料</a:t>
            </a:r>
            <a:endParaRPr/>
          </a:p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2914650"/>
            <a:ext cx="209550" cy="209550"/>
          </a:xfrm>
          <a:prstGeom prst="rect">
            <a:avLst/>
          </a:pr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019550" y="2905125"/>
            <a:ext cx="2105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速查业务</a:t>
            </a:r>
            <a:r>
              <a:rPr lang="en-US" sz="1425">
                <a:solidFill>
                  <a:srgbClr val="1A1A1A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与办理要求</a:t>
            </a:r>
            <a:endParaRPr/>
          </a:p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3248025"/>
            <a:ext cx="209550" cy="20955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019550" y="32385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一键查询营销禁用词</a:t>
            </a:r>
            <a:endParaRPr/>
          </a:p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3581400"/>
            <a:ext cx="209550" cy="20955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019550" y="3571875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减少跨部门重复咨询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695700" y="5257800"/>
            <a:ext cx="7924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829050" y="5391150"/>
            <a:ext cx="7658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一句话总结：企业内部统一知识入口，减少跨部门咨询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07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投研提效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公告摘要：海量公告自动提炼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71500" y="1476375"/>
            <a:ext cx="3238500" cy="434340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38200" y="3048000"/>
            <a:ext cx="27051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38200" y="4038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公告摘要</a:t>
            </a:r>
            <a:r>
              <a:rPr lang="en-US" sz="1350" spc="150">
                <a:solidFill>
                  <a:srgbClr val="9FB2C8"/>
                </a:solidFill>
                <a:latin typeface="Microsoft YaHei"/>
                <a:ea typeface="Microsoft YaHei"/>
              </a:rPr>
              <a:t>&amp;</a:t>
            </a: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文档提炼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4124325" y="1476375"/>
            <a:ext cx="75438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124325" y="1476375"/>
            <a:ext cx="7543800" cy="533400"/>
          </a:xfrm>
          <a:custGeom>
            <a:pathLst>
              <a:path w="792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276725" y="1628775"/>
            <a:ext cx="719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公告自动提炼核心，减少人工阅读量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076700" y="2838450"/>
            <a:ext cx="754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2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219450"/>
            <a:ext cx="209550" cy="209550"/>
          </a:xfrm>
          <a:prstGeom prst="rect">
            <a:avLst/>
          </a:prstGeom>
          <a:ln/>
        </p:spPr>
      </p:pic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400550" y="3209925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公告自动结构化提炼</a:t>
            </a:r>
            <a:endParaRPr/>
          </a:p>
        </p:txBody>
      </p:sp>
      <p:pic>
        <p:nvPicPr>
          <p:cNvPr id="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552825"/>
            <a:ext cx="209550" cy="209550"/>
          </a:xfrm>
          <a:prstGeom prst="rect">
            <a:avLst/>
          </a:prstGeom>
          <a:ln/>
        </p:spPr>
      </p:pic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400550" y="35433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输出发行方向与风险点</a:t>
            </a:r>
            <a:endParaRPr/>
          </a:p>
        </p:txBody>
      </p:sp>
      <p:pic>
        <p:nvPicPr>
          <p:cNvPr id="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3886200"/>
            <a:ext cx="209550" cy="209550"/>
          </a:xfrm>
          <a:prstGeom prst="rect">
            <a:avLst/>
          </a:prstGeom>
          <a:ln/>
        </p:spPr>
      </p:pic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400550" y="38766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标出经理变更等变更事项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4219575"/>
            <a:ext cx="209550" cy="20955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400550" y="42100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多份公告一键对比差异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076700" y="5257800"/>
            <a:ext cx="7543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210050" y="5391150"/>
            <a:ext cx="727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一句话总结：海量公告自动提炼核心，减少人工阅读量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场景</a:t>
            </a:r>
            <a:r>
              <a:rPr lang="en-US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 xml:space="preserve"> 08 · </a:t>
            </a:r>
            <a:r>
              <a:rPr lang="zh-CN" sz="1050" b="1" spc="150">
                <a:solidFill>
                  <a:srgbClr val="B08D57"/>
                </a:solidFill>
                <a:latin typeface="Microsoft YaHei"/>
                <a:ea typeface="Microsoft YaHei"/>
              </a:rPr>
              <a:t>客户体验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790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3A5F"/>
                </a:solidFill>
                <a:latin typeface="Microsoft YaHei"/>
                <a:ea typeface="Microsoft YaHei"/>
              </a:rPr>
              <a:t>客服辅助：前置减负人工坐席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71500" y="1295400"/>
            <a:ext cx="11049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19125" y="1476375"/>
            <a:ext cx="11049000" cy="533400"/>
          </a:xfrm>
          <a:prstGeom prst="roundRect">
            <a:avLst>
              <a:gd name="adj" fmla="val 14286"/>
            </a:avLst>
          </a:prstGeom>
          <a:solidFill>
            <a:srgbClr val="FBF6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19125" y="1476375"/>
            <a:ext cx="11049000" cy="533400"/>
          </a:xfrm>
          <a:custGeom>
            <a:pathLst>
              <a:path w="1160" h="5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3"/>
                </a:lnTo>
                <a:cubicBezTo>
                  <a:pt x="5" y="55"/>
                  <a:pt x="6" y="56"/>
                  <a:pt x="8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8D57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71525" y="1628775"/>
            <a:ext cx="1069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前置收集诉求预检索，提升客服效率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2200275"/>
            <a:ext cx="2857500" cy="36195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FB2C8"/>
                </a:solidFill>
                <a:latin typeface="Microsoft YaHei"/>
                <a:ea typeface="Microsoft YaHei"/>
              </a:rPr>
              <a:t>客服前置转人工辅助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695700" y="220027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5F"/>
                </a:solidFill>
                <a:latin typeface="Microsoft YaHei"/>
                <a:ea typeface="Microsoft YaHei"/>
              </a:rPr>
              <a:t>演示看点</a:t>
            </a:r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2581275"/>
            <a:ext cx="209550" cy="20955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019550" y="25717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自动收集客户诉求与持仓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2914650"/>
            <a:ext cx="209550" cy="20955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019550" y="2905125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预检索匹配产品资料</a:t>
            </a:r>
            <a:endParaRPr/>
          </a:p>
        </p:txBody>
      </p:sp>
      <p:pic>
        <p:nvPicPr>
          <p:cNvPr id="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3248025"/>
            <a:ext cx="209550" cy="20955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019550" y="323850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打包推送人工坐席</a:t>
            </a:r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95700" y="3581400"/>
            <a:ext cx="209550" cy="2095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019550" y="35718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1A1A"/>
                </a:solidFill>
                <a:latin typeface="Microsoft YaHei"/>
                <a:ea typeface="Microsoft YaHei"/>
              </a:rPr>
              <a:t>缩短接待耗时降查找压力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695700" y="5257800"/>
            <a:ext cx="7924800" cy="561975"/>
          </a:xfrm>
          <a:prstGeom prst="roundRect">
            <a:avLst>
              <a:gd name="adj" fmla="val 1355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829050" y="5391150"/>
            <a:ext cx="7658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一句话总结：提升客服接待效率，降低坐席资料查找压力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71500" y="5991225"/>
            <a:ext cx="11049000" cy="304800"/>
          </a:xfrm>
          <a:custGeom>
            <a:pathLst>
              <a:path w="1160" h="3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224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201400" y="6134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" name="" descr="&lt;Slide padding={0} style={{ fontFamily: 'Microsoft YaHei' }}&gt;&#10;  &lt;Box style={{ width: '100%', height: '100%', background: '#1E3A5F', flexDirection: 'column', justifyContent: 'center', padding: 70 }}&gt;&#10;    &lt;Text style={{ fontSize: 14, color: '#B08D57', fontWeight: 'bold', letterSpacing: 3 }}&gt;价值总结 / SUMMARY&lt;/Text&gt;&#10;    &lt;Text style={{ fontSize: 46, fontWeight: 'bold', color: '#FFFFFF', marginTop: 14, lineHeight: 1.2 }}&gt;一套知识底座，三类确定价值&lt;/Text&gt;&#10;    &lt;Box style={{ flexDirection: 'row', gap: 24, marginTop: 30 }}&gt;&#10;      &lt;Box style={{ flex: 1, background: '#284B73', borderRadius: 14, padding: 24 }}&gt;&#10;        &lt;FAIcon name='shield' style={{ fill: '#B08D57', width: 36, height: 36 }} /&gt;&#10;        &lt;Text style={{ fontSize: 22, fontWeight: 'bold', color: '#FFFFFF', marginTop: 14 }}&gt;守底线&lt;/Text&gt;&#10;        &lt;Text style={{ fontSize: 16, color: '#D7E0EC', marginTop: 8, lineHeight: 1.5 }}&gt;智能对练 + 质检 + 投教，让合规可量化、可巡检&lt;/Text&gt;&#10;      &lt;/Box&gt;&#10;      &lt;Box style={{ flex: 1, background: '#284B73', borderRadius: 14, padding: 24 }}&gt;&#10;        &lt;FAIcon name='file-text' style={{ fill: '#B08D57', width: 36, height: 36 }} /&gt;&#10;        &lt;Text style={{ fontSize: 22, fontWeight: 'bold', color: '#FFFFFF', marginTop: 14 }}&gt;提效率&lt;/Text&gt;&#10;        &lt;Text style={{ fontSize: 16, color: '#D7E0EC', marginTop: 8, lineHeight: 1.5 }}&gt;合同 / 公告 / 表格秒级读懂，释放投研与运营人力&lt;/Text&gt;&#10;      &lt;/Box&gt;&#10;      &lt;Box style={{ flex: 1, background: '#284B73', borderRadius: 14, padding: 24 }}&gt;&#10;        &lt;FAIcon name='comments' style={{ fill: '#B08D57', width: 36, height: 36 }} /&gt;&#10;        &lt;Text style={{ fontSize: 22, fontWeight: 'bold', color: '#FFFFFF', marginTop: 14 }}&gt;强体验&lt;/Text&gt;&#10;        &lt;Text style={{ fontSize: 16, color: '#D7E0EC', marginTop: 8, lineHeight: 1.5 }}&gt;对内统一入口、对外标准投教，服务更稳更快&lt;/Text&gt;&#10;      &lt;/Box&gt;&#10;    &lt;/Box&gt;&#10;    &lt;Box style={{ marginTop: 30, flexDirection: 'row', alignItems: 'center', gap: 14 }}&gt;&#10;      &lt;Box style={{ width: 4, height: 44, background: '#B08D57', borderRadius: 2 }} /&gt;&#10;      &lt;Text style={{ fontSize: 20, color: '#D7E0EC', lineHeight: 1.5 }}&gt;下一步建议：先选 1–2 个高优先场景（建议对练 / 质检）做 PoC 试点，两周内可见效果&lt;/Text&gt;&#10;    &lt;/Box&gt;&#10;    &lt;Box style={{ marginTop: 'auto', flexDirection: 'row', justifyContent: 'space-between' }}&gt;&#10;      &lt;Text style={{ fontSize: 15, color: '#9FB2C8' }}&gt;RAGFlow · 基金行业知识大模型落地演示&lt;/Text&gt;&#10;      &lt;Text style={{ fontSize: 15, color: '#9FB2C8' }}&gt;汇报人：______　|　日期：______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66750" y="666750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>价值总结</a:t>
            </a:r>
            <a:r>
              <a:rPr lang="en-US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 xml:space="preserve"> / SUMMARY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66750" y="962025"/>
            <a:ext cx="1085850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一套知识底座，三类确定价值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66750" y="1885950"/>
            <a:ext cx="3467100" cy="1819275"/>
          </a:xfrm>
          <a:prstGeom prst="roundRect">
            <a:avLst>
              <a:gd name="adj" fmla="val 7330"/>
            </a:avLst>
          </a:prstGeom>
          <a:solidFill>
            <a:srgbClr val="284B73"/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2114550"/>
            <a:ext cx="342900" cy="3429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95350" y="2590800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守底线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95350" y="2924175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智能对练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质检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投教，让合规可量化、可巡检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362450" y="1885950"/>
            <a:ext cx="3467100" cy="1819275"/>
          </a:xfrm>
          <a:prstGeom prst="roundRect">
            <a:avLst>
              <a:gd name="adj" fmla="val 7330"/>
            </a:avLst>
          </a:prstGeom>
          <a:solidFill>
            <a:srgbClr val="284B73"/>
          </a:solidFill>
          <a:ln/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91050" y="2114550"/>
            <a:ext cx="342900" cy="34290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591050" y="2590800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提效率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591050" y="2924175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合同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公告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表格秒级读懂，释放投研与运营人力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058150" y="1885950"/>
            <a:ext cx="3467100" cy="1819275"/>
          </a:xfrm>
          <a:prstGeom prst="roundRect">
            <a:avLst>
              <a:gd name="adj" fmla="val 7330"/>
            </a:avLst>
          </a:prstGeom>
          <a:solidFill>
            <a:srgbClr val="284B73"/>
          </a:solidFill>
          <a:ln/>
        </p:spPr>
        <p:txBody>
          <a:bodyPr/>
          <a:p/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86750" y="2114550"/>
            <a:ext cx="342900" cy="342900"/>
          </a:xfrm>
          <a:prstGeom prst="rect">
            <a:avLst/>
          </a:prstGeom>
          <a:ln/>
        </p:spPr>
      </p:pic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86750" y="2590800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强体验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286750" y="2924175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对内统一入口、对外标准投教，服务更稳更快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66750" y="3990975"/>
            <a:ext cx="38100" cy="41910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4029075"/>
            <a:ext cx="73914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下一步建议：先选</a:t>
            </a:r>
            <a:r>
              <a:rPr lang="en-US" sz="1500">
                <a:solidFill>
                  <a:srgbClr val="D7E0EC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个高优先场景（建议对练</a:t>
            </a:r>
            <a:r>
              <a:rPr lang="en-US" sz="1500">
                <a:solidFill>
                  <a:srgbClr val="D7E0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质检）做</a:t>
            </a:r>
            <a:r>
              <a:rPr lang="en-US" sz="1500">
                <a:solidFill>
                  <a:srgbClr val="D7E0EC"/>
                </a:solidFill>
                <a:latin typeface="Microsoft YaHei"/>
                <a:ea typeface="Microsoft YaHei"/>
              </a:rPr>
              <a:t xml:space="preserve"> PoC </a:t>
            </a: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试点，两周内可见效果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66750" y="6019800"/>
            <a:ext cx="2600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429750" y="601980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汇报人：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　日期：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3" name="" descr="&lt;Slide padding={0} style={{ fontFamily: 'Microsoft YaHei' }}&gt;&#10;  &lt;Box style={{ width: '100%', height: '100%', background: '#1E3A5F', flexDirection: 'column', justifyContent: 'center', padding: 70 }}&gt;&#10;    &lt;Text style={{ fontSize: 14, color: '#B08D57', fontWeight: 'bold', letterSpacing: 3 }}&gt;价值总结 / SUMMARY&lt;/Text&gt;&#10;    &lt;Text style={{ fontSize: 46, fontWeight: 'bold', color: '#FFFFFF', marginTop: 14, lineHeight: 1.2 }}&gt;一套知识底座，三类确定价值&lt;/Text&gt;&#10;    &lt;Box style={{ flexDirection: 'row', gap: 24, marginTop: 30 }}&gt;&#10;      &lt;Box style={{ flex: 1, background: '#284B73', borderRadius: 14, padding: 24 }}&gt;&#10;        &lt;FAIcon name='shield' style={{ fill: '#B08D57', width: 36, height: 36 }} /&gt;&#10;        &lt;Text style={{ fontSize: 22, fontWeight: 'bold', color: '#FFFFFF', marginTop: 14 }}&gt;守底线&lt;/Text&gt;&#10;        &lt;Text style={{ fontSize: 16, color: '#D7E0EC', marginTop: 8, lineHeight: 1.5 }}&gt;智能对练 + 质检 + 投教，让合规可量化、可巡检&lt;/Text&gt;&#10;      &lt;/Box&gt;&#10;      &lt;Box style={{ flex: 1, background: '#284B73', borderRadius: 14, padding: 24 }}&gt;&#10;        &lt;FAIcon name='file-text' style={{ fill: '#B08D57', width: 36, height: 36 }} /&gt;&#10;        &lt;Text style={{ fontSize: 22, fontWeight: 'bold', color: '#FFFFFF', marginTop: 14 }}&gt;提效率&lt;/Text&gt;&#10;        &lt;Text style={{ fontSize: 16, color: '#D7E0EC', marginTop: 8, lineHeight: 1.5 }}&gt;合同 / 公告 / 表格秒级读懂，释放投研与运营人力&lt;/Text&gt;&#10;      &lt;/Box&gt;&#10;      &lt;Box style={{ flex: 1, background: '#284B73', borderRadius: 14, padding: 24 }}&gt;&#10;        &lt;FAIcon name='comments' style={{ fill: '#B08D57', width: 36, height: 36 }} /&gt;&#10;        &lt;Text style={{ fontSize: 22, fontWeight: 'bold', color: '#FFFFFF', marginTop: 14 }}&gt;强体验&lt;/Text&gt;&#10;        &lt;Text style={{ fontSize: 16, color: '#D7E0EC', marginTop: 8, lineHeight: 1.5 }}&gt;对内统一入口、对外标准投教，服务更稳更快&lt;/Text&gt;&#10;      &lt;/Box&gt;&#10;    &lt;/Box&gt;&#10;    &lt;Box style={{ marginTop: 30, flexDirection: 'row', alignItems: 'center', gap: 14 }}&gt;&#10;      &lt;Box style={{ width: 4, height: 44, background: '#B08D57', borderRadius: 2 }} /&gt;&#10;      &lt;Text style={{ fontSize: 20, color: '#D7E0EC', lineHeight: 1.5 }}&gt;下一步建议：先选 1–2 个高优先场景（建议对练 / 质检）做 PoC 试点，两周内可见效果&lt;/Text&gt;&#10;    &lt;/Box&gt;&#10;    &lt;Box style={{ marginTop: 'auto', flexDirection: 'row', justifyContent: 'space-between' }}&gt;&#10;      &lt;Text style={{ fontSize: 15, color: '#9FB2C8' }}&gt;RAGFlow · 基金行业知识大模型落地演示&lt;/Text&gt;&#10;      &lt;Text style={{ fontSize: 15, color: '#9FB2C8' }}&gt;汇报人：______　|　日期：______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6750" y="666750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>价值总结</a:t>
            </a:r>
            <a:r>
              <a:rPr lang="en-US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 xml:space="preserve"> / SUMMARY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6750" y="962025"/>
            <a:ext cx="1085850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一套知识底座，三类确定价值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66750" y="1885950"/>
            <a:ext cx="3467100" cy="1819275"/>
          </a:xfrm>
          <a:prstGeom prst="roundRect">
            <a:avLst>
              <a:gd name="adj" fmla="val 7330"/>
            </a:avLst>
          </a:prstGeom>
          <a:solidFill>
            <a:srgbClr val="284B73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2114550"/>
            <a:ext cx="342900" cy="342900"/>
          </a:xfrm>
          <a:prstGeom prst="rect">
            <a:avLst/>
          </a:prstGeom>
          <a:ln/>
        </p:spPr>
      </p:pic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95350" y="2590800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守底线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95350" y="2924175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智能对练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质检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投教，让合规可量化、可巡检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362450" y="1885950"/>
            <a:ext cx="3467100" cy="1819275"/>
          </a:xfrm>
          <a:prstGeom prst="roundRect">
            <a:avLst>
              <a:gd name="adj" fmla="val 7330"/>
            </a:avLst>
          </a:prstGeom>
          <a:solidFill>
            <a:srgbClr val="284B73"/>
          </a:solidFill>
          <a:ln/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91050" y="2114550"/>
            <a:ext cx="342900" cy="342900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591050" y="2590800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提效率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591050" y="2924175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合同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公告</a:t>
            </a:r>
            <a:r>
              <a:rPr lang="en-US" sz="1200">
                <a:solidFill>
                  <a:srgbClr val="D7E0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表格秒级读懂，释放投研与运营人力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058150" y="1885950"/>
            <a:ext cx="3467100" cy="1819275"/>
          </a:xfrm>
          <a:prstGeom prst="roundRect">
            <a:avLst>
              <a:gd name="adj" fmla="val 7330"/>
            </a:avLst>
          </a:prstGeom>
          <a:solidFill>
            <a:srgbClr val="284B73"/>
          </a:solidFill>
          <a:ln/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86750" y="2114550"/>
            <a:ext cx="342900" cy="34290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286750" y="2590800"/>
            <a:ext cx="3009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强体验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86750" y="2924175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7E0EC"/>
                </a:solidFill>
                <a:latin typeface="Microsoft YaHei"/>
                <a:ea typeface="Microsoft YaHei"/>
              </a:rPr>
              <a:t>对内统一入口、对外标准投教，服务更稳更快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66750" y="3990975"/>
            <a:ext cx="38100" cy="41910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4029075"/>
            <a:ext cx="73914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下一步建议：先选</a:t>
            </a:r>
            <a:r>
              <a:rPr lang="en-US" sz="1500">
                <a:solidFill>
                  <a:srgbClr val="D7E0EC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个高优先场景（建议对练</a:t>
            </a:r>
            <a:r>
              <a:rPr lang="en-US" sz="1500">
                <a:solidFill>
                  <a:srgbClr val="D7E0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质检）做</a:t>
            </a:r>
            <a:r>
              <a:rPr lang="en-US" sz="1500">
                <a:solidFill>
                  <a:srgbClr val="D7E0EC"/>
                </a:solidFill>
                <a:latin typeface="Microsoft YaHei"/>
                <a:ea typeface="Microsoft YaHei"/>
              </a:rPr>
              <a:t xml:space="preserve"> PoC </a:t>
            </a:r>
            <a:r>
              <a:rPr lang="zh-CN" sz="1500">
                <a:solidFill>
                  <a:srgbClr val="D7E0EC"/>
                </a:solidFill>
                <a:latin typeface="Microsoft YaHei"/>
                <a:ea typeface="Microsoft YaHei"/>
              </a:rPr>
              <a:t>试点，两周内可见效果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66750" y="6019800"/>
            <a:ext cx="2600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 xml:space="preserve">RAGFlow · 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基金行业知识大模型落地演示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429750" y="601980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汇报人：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　日期：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2026-10-27T13:46:19Z</dcterms:created>
  <dcterms:modified xsi:type="dcterms:W3CDTF">2026-10-27T13:46:19Z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